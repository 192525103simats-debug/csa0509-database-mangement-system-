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98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Architecture, Data Models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ER / EER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•  Assessment Tool 3  •  Course Code: CSA05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512064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303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Outcome:  </a:t>
            </a:r>
            <a:r>
              <a:rPr lang="en-US" sz="12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— Analyze DBMS architecture, data models, schema types, and design ER/EER diagrams, relational schemas for case-based scenarios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Registration No.: K . KALYAN(192525103)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Questions, One Course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85623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Online Library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 &amp; cardinalities for a real-world case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79192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 — University Case Study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09067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specialization of the Person entity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75304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364845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3986784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vs. physical independence in the ANSI-SPARC architecture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71416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5445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88289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 &amp; transaction manager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67528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83080" y="544068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 Weak Entities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83080" y="577900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dependent entities with real-world examples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Diagram: Online Library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entities, attributes and relationships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ONLINE LIBRARY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in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76200" dist="25400" dir="5400000" algn="bl" rotWithShape="0">
              <a:srgbClr val="8888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0972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09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BookID, Title, ISBN, Genre, CopiesAvailable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76200" dist="25400" dir="5400000" algn="bl" rotWithShape="0">
              <a:srgbClr val="888899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600200"/>
            <a:ext cx="10972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09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MemberID, Name, Email, MembershipDate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76200" dist="25400" dir="5400000" algn="bl" rotWithShape="0">
              <a:srgbClr val="8888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600200"/>
            <a:ext cx="10972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709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AuthorID, Name, Nationality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76200" dist="25400" dir="5400000" algn="bl" rotWithShape="0">
              <a:srgbClr val="88889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55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StaffID, Name, Shift, Designation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76200" dist="25400" dir="5400000" algn="bl" rotWithShape="0">
              <a:srgbClr val="88889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24612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55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LoanID, IssueDate, DueDate, ReturnDate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76200" dist="25400" dir="5400000" algn="bl" rotWithShape="0">
              <a:srgbClr val="88889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24612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355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PublisherID, Name, Address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ONLINE LIBRARY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4108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507492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5074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51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00300" y="2926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0300" y="2926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2926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926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95260" y="2926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5260" y="2926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4069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069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71800" y="1897380"/>
            <a:ext cx="548640" cy="50292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8973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3200400"/>
            <a:ext cx="13716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200400"/>
            <a:ext cx="457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200400"/>
            <a:ext cx="9601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200400"/>
            <a:ext cx="457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200400"/>
            <a:ext cx="9601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41080" y="3200400"/>
            <a:ext cx="9144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3520440"/>
            <a:ext cx="9144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4617720"/>
            <a:ext cx="9144" cy="45720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1371600"/>
            <a:ext cx="9144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2377440"/>
            <a:ext cx="9144" cy="50292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4580" y="3977640"/>
            <a:ext cx="1051560" cy="54864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4580" y="3977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26180" y="3977640"/>
            <a:ext cx="1051560" cy="54864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26180" y="3977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3017520" y="3520440"/>
            <a:ext cx="228600" cy="45720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0" y="3520440"/>
            <a:ext cx="9144" cy="45720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317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06324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181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753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5989320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5952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28800" y="5971032"/>
            <a:ext cx="237744" cy="237744"/>
          </a:xfrm>
          <a:prstGeom prst="diamond">
            <a:avLst/>
          </a:prstGeom>
          <a:solidFill>
            <a:srgbClr val="1C7293"/>
          </a:solidFill>
          <a:ln/>
        </p:spPr>
      </p:sp>
      <p:sp>
        <p:nvSpPr>
          <p:cNvPr id="51" name="Text 49"/>
          <p:cNvSpPr/>
          <p:nvPr/>
        </p:nvSpPr>
        <p:spPr>
          <a:xfrm>
            <a:off x="21488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11880" y="5971032"/>
            <a:ext cx="274320" cy="219456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776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ONLINE LIBRARY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Cardinality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— WRITES — BOOK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874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06640" y="1783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 can write many books; one book can have many co-authors.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BORROWS — MEMBER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2926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 (via LOAN)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06640" y="2834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may borrow many books over time; a book may be borrowed by many members, one at a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— ISSUES — LOAN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3977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06640" y="3886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librarian processes many loan transactions.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— PUBLISHES — BOOK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5029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5029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06640" y="49377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publisher publishes many books; each book has one publisher.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Model: University Case Study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and specialization of entities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UNIVERSITY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vs. Specialization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approach: combine lower-level entities that share common attributes into one higher-level entity.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FACULTY + STAFF  →  generalized into  PERSON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attributes (Name, DOB, Address) move up to the superclass — reducing redundancy.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57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approach: divide a higher-level entity into distinct lower-level entities based on unique characteristics.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37490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41148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→  specialized into  STUDENT, FACULTY, STAFF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4983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gets its own distinguishing attributes — e.g., Student gets CGPA; Faculty gets Department.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UNIVERSITY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 — University Personnel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09160" y="1417320"/>
            <a:ext cx="274320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11780" y="15087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1780" y="1508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 (PK)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06740" y="15087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06740" y="1508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31920" y="1737360"/>
            <a:ext cx="77724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02168" y="1737360"/>
            <a:ext cx="27432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737360"/>
            <a:ext cx="77724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377440"/>
            <a:ext cx="640080" cy="45720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057400"/>
            <a:ext cx="9144" cy="3200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200400"/>
            <a:ext cx="2377440" cy="594360"/>
          </a:xfrm>
          <a:prstGeom prst="rect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3200400"/>
            <a:ext cx="2377440" cy="594360"/>
          </a:xfrm>
          <a:prstGeom prst="rect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3200400"/>
            <a:ext cx="2377440" cy="594360"/>
          </a:xfrm>
          <a:prstGeom prst="rect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2834640"/>
            <a:ext cx="3886200" cy="365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834640"/>
            <a:ext cx="9144" cy="365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2834640"/>
            <a:ext cx="3886200" cy="365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0594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594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0050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050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0926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926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5810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5810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2114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114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05840" y="3474720"/>
            <a:ext cx="27432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3474720"/>
            <a:ext cx="45720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474720"/>
            <a:ext cx="82296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3474720"/>
            <a:ext cx="9144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3474720"/>
            <a:ext cx="27432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64040" y="3474720"/>
            <a:ext cx="22860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3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used: 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 — a person can belong to only one subclass at a time (e.g., a Student is not simultaneously Faculty). Attribute and relationship inheritance means every subclass automatically inherits PersonID and Name from PERSON.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independence in DBMS architecture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DATA INDEPENDENCE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Three-Schema (ANSI-SPARC)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63040" y="141732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490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7647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— how individual users see their portion of the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237744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450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27249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(logical) view — entities, relationships, constraints for the whole database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333756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3410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36850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— file structures, indexes, access paths on disk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417320"/>
            <a:ext cx="0" cy="9601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(External unaffected by Conceptual-level changes)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2377440"/>
            <a:ext cx="0" cy="9601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(Conceptual unaffected by Internal-level changes)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EAF3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177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conceptual (logical) schema — e.g., adding a new entity or attribute — without altering external views or application programs.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44348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EAF3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6177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49834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internal (storage) schema — e.g., reorganizing files or adding an index — without altering the conceptual schema.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Software Components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 &amp; transaction manager (BL1 — Remember)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SOFTWARE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Software Components of a DBMS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63500" dist="25400" dir="5400000" algn="bl" rotWithShape="0">
              <a:srgbClr val="8888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81965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optimizes, and executes user queries (e.g., SQL). Converts high-level queries into an efficient low-level execution plan using the query optimizer.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63500" dist="25400" dir="5400000" algn="bl" rotWithShape="0">
              <a:srgbClr val="88889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23697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828800" y="361188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how data is stored, retrieved, and updated on disk. Interfaces with the OS file system, buffer manager, and handles indexing.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63500" dist="25400" dir="5400000" algn="bl" rotWithShape="0">
              <a:srgbClr val="88889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8006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00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65429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828800" y="502920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ACID properties — Atomicity, Consistency, Isolation, Durability — through concurrency control and recovery mechanisms.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SOFTWARE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Components Interact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SQL 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828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66960" y="1828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3840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3840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(DISK)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2194560"/>
            <a:ext cx="822960" cy="9144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2194560"/>
            <a:ext cx="822960" cy="9144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194560"/>
            <a:ext cx="822960" cy="9144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41280" y="2560320"/>
            <a:ext cx="640080" cy="128016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49377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 optimizes and executes; transaction manager guarantees ACID compliance during execution; storage manager reads/writes pages to and from physical storage.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entity types in ER modelling with real-world examples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STRONG VS. WEAK ENTITIES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 vs. Weak Entity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 its own primary key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Exists independently of other entities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Represented by a single-line rectangle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EMPLOYEE (EmpID as PK)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ORDER (OrderID as PK)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 no primary key of its own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29260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Depends on a strong (owner) entity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33832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Represented by a double-line rectangle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3840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DEPENDENT (owned by EMPLOYEE)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4297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ORDER_ITEM (owned by ORDER)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371600" y="5349240"/>
            <a:ext cx="1828800" cy="54864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5394960"/>
            <a:ext cx="731520" cy="457200"/>
          </a:xfrm>
          <a:prstGeom prst="diamond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5449824"/>
            <a:ext cx="548640" cy="347472"/>
          </a:xfrm>
          <a:prstGeom prst="diamond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5394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5349240"/>
            <a:ext cx="1920240" cy="548640"/>
          </a:xfrm>
          <a:prstGeom prst="rect">
            <a:avLst/>
          </a:prstGeom>
          <a:solidFill>
            <a:srgbClr val="1C7293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152" y="5422392"/>
            <a:ext cx="1773936" cy="402336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5349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5623560"/>
            <a:ext cx="320040" cy="0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5623560"/>
            <a:ext cx="320040" cy="0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5056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5056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5394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rectangle = weak entity   |   Double diamond = identifying relationship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modelling captures real-world entities and relationships — the foundation of database design (Q1).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803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extends ER with generalization/specialization for hierarchical, real-world class structures (Q2).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66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— logical &amp; physical — lets schemas evolve without breaking applications (Q3).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2519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processor, storage manager, and transaction manager work together as the DBMS engine (Q4).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9377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weak entities model both independent and dependent data objects accurately (Q5).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4747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•  CSA05  •  Assessment Tool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1106</Words>
  <Application>Microsoft Office PowerPoint</Application>
  <PresentationFormat>Widescreen</PresentationFormat>
  <Paragraphs>212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kalyan kalyan</cp:lastModifiedBy>
  <cp:revision>2</cp:revision>
  <dcterms:created xsi:type="dcterms:W3CDTF">2026-07-22T09:15:52Z</dcterms:created>
  <dcterms:modified xsi:type="dcterms:W3CDTF">2026-07-23T15:57:24Z</dcterms:modified>
</cp:coreProperties>
</file>